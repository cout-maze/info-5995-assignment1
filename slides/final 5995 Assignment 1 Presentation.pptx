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2996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63546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449258" y="0"/>
            <a:ext cx="14288" cy="51435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1220716"/>
            <a:ext cx="4886325" cy="201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AI-ASSISTED
CRYPTOGRAPHIC
VULNERABILITY
DISCOVERY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571500" y="3546677"/>
            <a:ext cx="48863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2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ANDROID APK SECURITY REVIEW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6043613" y="785813"/>
            <a:ext cx="27146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GROUP 5995_A1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6043613" y="1035844"/>
            <a:ext cx="27146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Mohammed Maaz Shaikh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6043613" y="1218707"/>
            <a:ext cx="27146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Reyon Noronha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6043613" y="1401570"/>
            <a:ext cx="27146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Yunan Zhang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6043613" y="1584434"/>
            <a:ext cx="27146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Aditya Dattatreya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6043613" y="1767297"/>
            <a:ext cx="27146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Yi Wei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6043613" y="1950160"/>
            <a:ext cx="27146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Xuanyao Guo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42913"/>
            <a:ext cx="5409605" cy="2911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METHODOLOGY: FROM DECOMPILATION TO AUDIT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744049" y="964406"/>
            <a:ext cx="3929063" cy="960834"/>
          </a:xfrm>
          <a:prstGeom prst="rect">
            <a:avLst/>
          </a:prstGeom>
          <a:solidFill>
            <a:srgbClr val="111111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86924" y="1078706"/>
            <a:ext cx="364331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DECOMPILATION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886924" y="1300163"/>
            <a:ext cx="3643313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Reconstruction:</a:t>
            </a: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Began by decompiling the APK using </a:t>
            </a:r>
            <a:r>
              <a:rPr lang="en-US" sz="7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JADX</a:t>
            </a: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and </a:t>
            </a:r>
            <a:r>
              <a:rPr lang="en-US" sz="7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APKTool</a:t>
            </a: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to reconstruct readable Java source code and extract application resources.</a:t>
            </a:r>
            <a:endParaRPr lang="en-US" sz="780" dirty="0"/>
          </a:p>
        </p:txBody>
      </p:sp>
      <p:sp>
        <p:nvSpPr>
          <p:cNvPr id="7" name="Shape 4"/>
          <p:cNvSpPr/>
          <p:nvPr/>
        </p:nvSpPr>
        <p:spPr>
          <a:xfrm>
            <a:off x="1903267" y="1925241"/>
            <a:ext cx="3929063" cy="960834"/>
          </a:xfrm>
          <a:prstGeom prst="rect">
            <a:avLst/>
          </a:prstGeom>
          <a:solidFill>
            <a:srgbClr val="111111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046142" y="2039541"/>
            <a:ext cx="364331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 STATIC AUDIT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2046142" y="2260997"/>
            <a:ext cx="3643313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Logic Inspection:</a:t>
            </a: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Performed a manual static audit, tracing authentication flows and flagging sensitive API calls within the decompiled logic.</a:t>
            </a:r>
            <a:endParaRPr lang="en-US" sz="780" dirty="0"/>
          </a:p>
        </p:txBody>
      </p:sp>
      <p:sp>
        <p:nvSpPr>
          <p:cNvPr id="10" name="Shape 7"/>
          <p:cNvSpPr/>
          <p:nvPr/>
        </p:nvSpPr>
        <p:spPr>
          <a:xfrm>
            <a:off x="2994324" y="2857493"/>
            <a:ext cx="3929063" cy="960835"/>
          </a:xfrm>
          <a:prstGeom prst="rect">
            <a:avLst/>
          </a:prstGeom>
          <a:solidFill>
            <a:srgbClr val="111111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137199" y="2971793"/>
            <a:ext cx="364331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 AI INTEGRATION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3137199" y="3193249"/>
            <a:ext cx="3643313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Advanced Tooling:</a:t>
            </a: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Leveraged AI to identify weak cryptographic primitives and navigate complex, obfuscated code trees more efficiently.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4572000" y="3818327"/>
            <a:ext cx="3929063" cy="932259"/>
          </a:xfrm>
          <a:prstGeom prst="rect">
            <a:avLst/>
          </a:prstGeom>
          <a:solidFill>
            <a:srgbClr val="111111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14875" y="3932627"/>
            <a:ext cx="364331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 CORE OBJECTIVE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4714875" y="4154084"/>
            <a:ext cx="364331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Asset Evaluation:</a:t>
            </a: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Focused on how the app handles its two highest-value assets: </a:t>
            </a:r>
            <a:r>
              <a:rPr lang="en-US" sz="7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 credentials</a:t>
            </a: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and </a:t>
            </a:r>
            <a:r>
              <a:rPr lang="en-US" sz="7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session tokens</a:t>
            </a: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632640"/>
            <a:ext cx="4091583" cy="2911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OVERVIEW &amp; THREAT MODEL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716573" y="2405946"/>
            <a:ext cx="2657475" cy="1089031"/>
          </a:xfrm>
          <a:prstGeom prst="rect">
            <a:avLst/>
          </a:prstGeom>
          <a:solidFill>
            <a:srgbClr val="111111"/>
          </a:solidFill>
          <a:ln w="18288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59448" y="2620258"/>
            <a:ext cx="235266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MAINACTIVITY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859448" y="2900650"/>
            <a:ext cx="211633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Collects user credentials and stores them in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859448" y="3055301"/>
            <a:ext cx="9001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credentials.txt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1759561" y="3062445"/>
            <a:ext cx="133766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within app-private storage.</a:t>
            </a:r>
            <a:endParaRPr lang="en-US" sz="727" dirty="0"/>
          </a:p>
        </p:txBody>
      </p:sp>
      <p:sp>
        <p:nvSpPr>
          <p:cNvPr id="9" name="Shape 6"/>
          <p:cNvSpPr/>
          <p:nvPr/>
        </p:nvSpPr>
        <p:spPr>
          <a:xfrm>
            <a:off x="3326783" y="2405946"/>
            <a:ext cx="2666990" cy="1089031"/>
          </a:xfrm>
          <a:prstGeom prst="rect">
            <a:avLst/>
          </a:prstGeom>
          <a:solidFill>
            <a:srgbClr val="111111"/>
          </a:solidFill>
          <a:ln w="18288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479202" y="2620259"/>
            <a:ext cx="236220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 LOGIN ACTIVITY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3479202" y="2900651"/>
            <a:ext cx="22699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Validates credentials, generates a 16-character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3479202" y="3060660"/>
            <a:ext cx="14287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session token, and stores it in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3479202" y="3215311"/>
            <a:ext cx="102013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SharedPreferences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4499335" y="3222455"/>
            <a:ext cx="2678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5993788" y="2413812"/>
            <a:ext cx="2676534" cy="1082950"/>
          </a:xfrm>
          <a:prstGeom prst="rect">
            <a:avLst/>
          </a:prstGeom>
          <a:solidFill>
            <a:srgbClr val="111111"/>
          </a:solidFill>
          <a:ln w="18288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46193" y="2620258"/>
            <a:ext cx="23717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 PROFILE ACTIVITY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6146193" y="2884577"/>
            <a:ext cx="23717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Displays user profile based on the session token. Clears the token upon user logout.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626083" y="3869908"/>
            <a:ext cx="7972425" cy="927236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EF319CA-D1C4-6787-6EB5-C8353FB8C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573" y="1066135"/>
            <a:ext cx="7972425" cy="133802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31242" y="4109338"/>
            <a:ext cx="76866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00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ASSETS AT RISK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831242" y="4373657"/>
            <a:ext cx="76866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 Credentials:</a:t>
            </a: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Plaintext usernames and passwords. 
</a:t>
            </a:r>
            <a:r>
              <a:rPr lang="en-US" sz="683" b="1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Session Tokens:</a:t>
            </a: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High-value authentication proof used for authorization.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632640"/>
            <a:ext cx="5481042" cy="2911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DEFINING THE ADVERSARY: CAPABILITIES &amp; GOALS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42913" y="1580610"/>
            <a:ext cx="4200525" cy="2715937"/>
          </a:xfrm>
          <a:prstGeom prst="rect">
            <a:avLst/>
          </a:prstGeom>
          <a:solidFill>
            <a:srgbClr val="111111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5788" y="1866360"/>
            <a:ext cx="390048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ATTACKER CAPABILITIES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85788" y="2180685"/>
            <a:ext cx="75366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Local Access: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1339453" y="2180685"/>
            <a:ext cx="309324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Ability to install the app and operate on a rooted device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85788" y="2363549"/>
            <a:ext cx="65365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 emulator.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585788" y="2729275"/>
            <a:ext cx="98940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Forensic Analysis: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1575197" y="2729275"/>
            <a:ext cx="241101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Capability to extract app-private files (e.g.,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85788" y="2906780"/>
            <a:ext cx="1028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credentials.txt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1614488" y="2915710"/>
            <a:ext cx="5536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1669852" y="2906780"/>
            <a:ext cx="11658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SharedPreferences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2835734" y="2915710"/>
            <a:ext cx="7679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).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585788" y="3281437"/>
            <a:ext cx="115014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Reverse Engineering: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1735931" y="3281437"/>
            <a:ext cx="26574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Access to decompiled source code via tools like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585788" y="3464300"/>
            <a:ext cx="152697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JADX to audit internal logic.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4800600" y="1580610"/>
            <a:ext cx="3900488" cy="1582257"/>
          </a:xfrm>
          <a:prstGeom prst="rect">
            <a:avLst/>
          </a:prstGeom>
          <a:solidFill>
            <a:srgbClr val="111111"/>
          </a:solidFill>
          <a:ln w="18288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914900" y="1809210"/>
            <a:ext cx="367188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00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MALICIOUS GOALS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4914900" y="2105676"/>
            <a:ext cx="3671888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Token Forgery:</a:t>
            </a: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Predict or reproduce valid session tokens to bypass authentication.
 </a:t>
            </a: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Impersonation:</a:t>
            </a: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Gain unauthorized access to user profiles without valid credentials.</a:t>
            </a:r>
            <a:endParaRPr lang="en-US" sz="834" dirty="0"/>
          </a:p>
        </p:txBody>
      </p:sp>
      <p:sp>
        <p:nvSpPr>
          <p:cNvPr id="21" name="Shape 18"/>
          <p:cNvSpPr/>
          <p:nvPr/>
        </p:nvSpPr>
        <p:spPr>
          <a:xfrm>
            <a:off x="4800600" y="3234305"/>
            <a:ext cx="3900488" cy="1033667"/>
          </a:xfrm>
          <a:prstGeom prst="rect">
            <a:avLst/>
          </a:prstGeom>
          <a:solidFill>
            <a:srgbClr val="111111"/>
          </a:solidFill>
          <a:ln w="18288">
            <a:solidFill>
              <a:srgbClr val="455A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914900" y="3462905"/>
            <a:ext cx="367188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55A6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SCOPE EXCLUSIONS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4914900" y="3759371"/>
            <a:ext cx="36718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Remote Access:</a:t>
            </a: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Direct reading of private files without local access is considered out of scope.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632640"/>
            <a:ext cx="4480917" cy="2911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FINDING: PREDICTABLE SESSION TOKENS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2392599" y="1311304"/>
            <a:ext cx="4330201" cy="1485900"/>
          </a:xfrm>
          <a:prstGeom prst="rect">
            <a:avLst/>
          </a:prstGeom>
          <a:solidFill>
            <a:srgbClr val="111111"/>
          </a:solidFill>
          <a:ln w="18288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2535474" y="1397029"/>
            <a:ext cx="1407319" cy="155377"/>
          </a:xfrm>
          <a:prstGeom prst="rect">
            <a:avLst/>
          </a:prstGeom>
          <a:solidFill>
            <a:srgbClr val="FF0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535474" y="1397029"/>
            <a:ext cx="1407319" cy="155377"/>
          </a:xfrm>
          <a:prstGeom prst="rect">
            <a:avLst/>
          </a:prstGeom>
          <a:noFill/>
          <a:ln/>
        </p:spPr>
        <p:txBody>
          <a:bodyPr wrap="none" lIns="102108" tIns="34036" rIns="102108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SEVERITY: HIGH / CRITICAL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2535474" y="1609555"/>
            <a:ext cx="403181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ENTROPY COLLAPSE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2535474" y="1859586"/>
            <a:ext cx="382547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While a 16-character token from a 62-character alphabet suggests a large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2535474" y="2020321"/>
            <a:ext cx="229850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space, security depends entirely on the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4833976" y="2020321"/>
            <a:ext cx="104298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generator's entropy</a:t>
            </a:r>
            <a:endParaRPr lang="en-US" sz="734" dirty="0"/>
          </a:p>
        </p:txBody>
      </p:sp>
      <p:sp>
        <p:nvSpPr>
          <p:cNvPr id="11" name="Text 8"/>
          <p:cNvSpPr/>
          <p:nvPr/>
        </p:nvSpPr>
        <p:spPr>
          <a:xfrm>
            <a:off x="5876963" y="2020321"/>
            <a:ext cx="3036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2535474" y="2186413"/>
            <a:ext cx="47148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Because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3006962" y="2163196"/>
            <a:ext cx="1085850" cy="160734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006962" y="2163196"/>
            <a:ext cx="1085850" cy="160734"/>
          </a:xfrm>
          <a:prstGeom prst="rect">
            <a:avLst/>
          </a:prstGeom>
          <a:noFill/>
          <a:ln/>
        </p:spPr>
        <p:txBody>
          <a:bodyPr wrap="none" lIns="34036" tIns="17018" rIns="34036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00FF4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java.util.Random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4092812" y="2186413"/>
            <a:ext cx="208776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 deterministic, the effective key space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2535474" y="2347147"/>
            <a:ext cx="11072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collapses to the seed</a:t>
            </a:r>
            <a:endParaRPr lang="en-US" sz="734" dirty="0"/>
          </a:p>
        </p:txBody>
      </p:sp>
      <p:sp>
        <p:nvSpPr>
          <p:cNvPr id="17" name="Text 14"/>
          <p:cNvSpPr/>
          <p:nvPr/>
        </p:nvSpPr>
        <p:spPr>
          <a:xfrm>
            <a:off x="3642755" y="2347147"/>
            <a:ext cx="231100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making the token's apparent size irrelevant.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2795384" y="2946665"/>
            <a:ext cx="3511990" cy="1485900"/>
          </a:xfrm>
          <a:prstGeom prst="rect">
            <a:avLst/>
          </a:prstGeom>
          <a:solidFill>
            <a:srgbClr val="050505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954221" y="3032390"/>
            <a:ext cx="321027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TECHNICAL EXPOSURE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2954221" y="3282421"/>
            <a:ext cx="48398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Primitive:</a:t>
            </a:r>
            <a:endParaRPr lang="en-US" sz="734" dirty="0"/>
          </a:p>
        </p:txBody>
      </p:sp>
      <p:sp>
        <p:nvSpPr>
          <p:cNvPr id="21" name="Text 18"/>
          <p:cNvSpPr/>
          <p:nvPr/>
        </p:nvSpPr>
        <p:spPr>
          <a:xfrm>
            <a:off x="3438210" y="3282421"/>
            <a:ext cx="200560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Non-cryptographically secure PRNG in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2954221" y="3425296"/>
            <a:ext cx="1471613" cy="160734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954221" y="3425296"/>
            <a:ext cx="1471613" cy="160734"/>
          </a:xfrm>
          <a:prstGeom prst="rect">
            <a:avLst/>
          </a:prstGeom>
          <a:noFill/>
          <a:ln/>
        </p:spPr>
        <p:txBody>
          <a:bodyPr wrap="none" lIns="34036" tIns="17018" rIns="34036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00FF4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generateSessionToken()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4425833" y="3448514"/>
            <a:ext cx="3036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2954221" y="3609248"/>
            <a:ext cx="44112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Storage:</a:t>
            </a:r>
            <a:endParaRPr lang="en-US" sz="734" dirty="0"/>
          </a:p>
        </p:txBody>
      </p:sp>
      <p:sp>
        <p:nvSpPr>
          <p:cNvPr id="26" name="Text 23"/>
          <p:cNvSpPr/>
          <p:nvPr/>
        </p:nvSpPr>
        <p:spPr>
          <a:xfrm>
            <a:off x="3395347" y="3609248"/>
            <a:ext cx="96440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Tokens are stored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4359753" y="3609248"/>
            <a:ext cx="67508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unencrypted</a:t>
            </a:r>
            <a:endParaRPr lang="en-US" sz="734" dirty="0"/>
          </a:p>
        </p:txBody>
      </p:sp>
      <p:sp>
        <p:nvSpPr>
          <p:cNvPr id="28" name="Text 25"/>
          <p:cNvSpPr/>
          <p:nvPr/>
        </p:nvSpPr>
        <p:spPr>
          <a:xfrm>
            <a:off x="5034838" y="3609248"/>
            <a:ext cx="11965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2954221" y="3752123"/>
            <a:ext cx="1150144" cy="160734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954221" y="3752123"/>
            <a:ext cx="1150144" cy="160734"/>
          </a:xfrm>
          <a:prstGeom prst="rect">
            <a:avLst/>
          </a:prstGeom>
          <a:noFill/>
          <a:ln/>
        </p:spPr>
        <p:txBody>
          <a:bodyPr wrap="none" lIns="34036" tIns="17018" rIns="34036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00FF4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SharedPreferences</a:t>
            </a:r>
            <a:endParaRPr lang="en-US" sz="780" dirty="0"/>
          </a:p>
        </p:txBody>
      </p:sp>
      <p:sp>
        <p:nvSpPr>
          <p:cNvPr id="31" name="Text 28"/>
          <p:cNvSpPr/>
          <p:nvPr/>
        </p:nvSpPr>
        <p:spPr>
          <a:xfrm>
            <a:off x="4104364" y="3775340"/>
            <a:ext cx="3036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780" dirty="0"/>
          </a:p>
        </p:txBody>
      </p:sp>
      <p:sp>
        <p:nvSpPr>
          <p:cNvPr id="32" name="Text 29"/>
          <p:cNvSpPr/>
          <p:nvPr/>
        </p:nvSpPr>
        <p:spPr>
          <a:xfrm>
            <a:off x="2954221" y="3936075"/>
            <a:ext cx="38933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Impact:</a:t>
            </a:r>
            <a:endParaRPr lang="en-US" sz="734" dirty="0"/>
          </a:p>
        </p:txBody>
      </p:sp>
      <p:sp>
        <p:nvSpPr>
          <p:cNvPr id="33" name="Text 30"/>
          <p:cNvSpPr/>
          <p:nvPr/>
        </p:nvSpPr>
        <p:spPr>
          <a:xfrm>
            <a:off x="3343555" y="3936075"/>
            <a:ext cx="238244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Bridges into a deeper technical breakdown of</a:t>
            </a:r>
            <a:endParaRPr lang="en-US" sz="780" dirty="0"/>
          </a:p>
        </p:txBody>
      </p:sp>
      <p:sp>
        <p:nvSpPr>
          <p:cNvPr id="34" name="Text 31"/>
          <p:cNvSpPr/>
          <p:nvPr/>
        </p:nvSpPr>
        <p:spPr>
          <a:xfrm>
            <a:off x="2954221" y="4096809"/>
            <a:ext cx="130552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deterministic generation.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42913"/>
            <a:ext cx="4354116" cy="2911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TECHNICAL ANALYSIS: WHY PRNG FAILS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357188" y="1199036"/>
            <a:ext cx="3729038" cy="1282219"/>
          </a:xfrm>
          <a:prstGeom prst="rect">
            <a:avLst/>
          </a:prstGeom>
          <a:solidFill>
            <a:srgbClr val="111111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42913" y="1256186"/>
            <a:ext cx="3557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DETERMINISTIC NATURE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442913" y="1499073"/>
            <a:ext cx="168949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Linear Congruential Generator: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2160984" y="1490143"/>
            <a:ext cx="10972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java.util.Random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3258276" y="1499073"/>
            <a:ext cx="38040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uses a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442913" y="1681936"/>
            <a:ext cx="293786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formula to produce a sequence of numbers that only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3380780" y="1681936"/>
            <a:ext cx="38933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appear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42913" y="1864800"/>
            <a:ext cx="45184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random.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42913" y="2047663"/>
            <a:ext cx="103584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Dependency: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1478756" y="2047663"/>
            <a:ext cx="24145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entire sequence is determined by a 48-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442913" y="2230526"/>
            <a:ext cx="338792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bit seed. If the seed is known, the output is 100% predictable.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357188" y="3829652"/>
            <a:ext cx="3729038" cy="730058"/>
          </a:xfrm>
          <a:prstGeom prst="rect">
            <a:avLst/>
          </a:prstGeom>
          <a:solidFill>
            <a:srgbClr val="111111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42913" y="3886802"/>
            <a:ext cx="3557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IMPACT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442913" y="4108258"/>
            <a:ext cx="35575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Inadequate Entropy:</a:t>
            </a: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Often seeded with system time, allowing attackers to brute-force the seed within a narrow window.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4288448" y="2036390"/>
            <a:ext cx="4557712" cy="1745168"/>
          </a:xfrm>
          <a:prstGeom prst="rect">
            <a:avLst/>
          </a:prstGeom>
          <a:solidFill>
            <a:srgbClr val="111111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374173" y="2093540"/>
            <a:ext cx="438626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VULNERABLE IMPLEMENTATION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4374173" y="2336428"/>
            <a:ext cx="289857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16-character token is built by repeatedly calling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7272750" y="2327498"/>
            <a:ext cx="7543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nextInt(62)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8027140" y="2336428"/>
            <a:ext cx="3214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834" dirty="0"/>
          </a:p>
        </p:txBody>
      </p:sp>
      <p:sp>
        <p:nvSpPr>
          <p:cNvPr id="23" name="Shape 20"/>
          <p:cNvSpPr/>
          <p:nvPr/>
        </p:nvSpPr>
        <p:spPr>
          <a:xfrm>
            <a:off x="4374173" y="2558582"/>
            <a:ext cx="4386262" cy="700088"/>
          </a:xfrm>
          <a:prstGeom prst="rect">
            <a:avLst/>
          </a:prstGeom>
          <a:solidFill>
            <a:srgbClr val="000000"/>
          </a:solidFill>
          <a:ln w="9144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374173" y="2558582"/>
            <a:ext cx="4386262" cy="70008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 random = new Random();</a:t>
            </a:r>
            <a:endParaRPr lang="en-US" sz="727" dirty="0"/>
          </a:p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16; i++) {</a:t>
            </a:r>
            <a:endParaRPr lang="en-US" sz="727" dirty="0"/>
          </a:p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idx = random.nextInt(62);</a:t>
            </a:r>
            <a:endParaRPr lang="en-US" sz="727" dirty="0"/>
          </a:p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sb.append(ALPHABET.charAt(idx));</a:t>
            </a:r>
            <a:endParaRPr lang="en-US" sz="727" dirty="0"/>
          </a:p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4374173" y="3315819"/>
            <a:ext cx="4386262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Flaw:</a:t>
            </a: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This PRNG is designed for speed and statistical distribution, not for adversarial resistance.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632640"/>
            <a:ext cx="4902398" cy="2911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EXPLOITATION: REALISTIC ATTACK SCENARIO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42913" y="1356364"/>
            <a:ext cx="8258175" cy="732932"/>
          </a:xfrm>
          <a:prstGeom prst="rect">
            <a:avLst/>
          </a:prstGeom>
          <a:solidFill>
            <a:srgbClr val="111111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57213" y="1427801"/>
            <a:ext cx="28575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985838" y="1556389"/>
            <a:ext cx="76009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OBSERVATION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985838" y="1820707"/>
            <a:ext cx="76009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Attacker installs the app and captures session tokens during login to gain insight into the PRNG output.</a:t>
            </a:r>
            <a:endParaRPr lang="en-US" sz="727" dirty="0"/>
          </a:p>
        </p:txBody>
      </p:sp>
      <p:sp>
        <p:nvSpPr>
          <p:cNvPr id="8" name="Shape 5"/>
          <p:cNvSpPr/>
          <p:nvPr/>
        </p:nvSpPr>
        <p:spPr>
          <a:xfrm>
            <a:off x="442913" y="2132158"/>
            <a:ext cx="8258175" cy="736504"/>
          </a:xfrm>
          <a:prstGeom prst="rect">
            <a:avLst/>
          </a:prstGeom>
          <a:solidFill>
            <a:srgbClr val="111111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57213" y="2203596"/>
            <a:ext cx="28575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985838" y="2332183"/>
            <a:ext cx="76009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APPROXIMATION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985838" y="2605432"/>
            <a:ext cx="2893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Since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1275159" y="2598288"/>
            <a:ext cx="9601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java.util.Random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2235296" y="2605432"/>
            <a:ext cx="480774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 seeded by system time, the attacker approximates the seed based on the generation timestamp.</a:t>
            </a:r>
            <a:endParaRPr lang="en-US" sz="727" dirty="0"/>
          </a:p>
        </p:txBody>
      </p:sp>
      <p:sp>
        <p:nvSpPr>
          <p:cNvPr id="14" name="Shape 11"/>
          <p:cNvSpPr/>
          <p:nvPr/>
        </p:nvSpPr>
        <p:spPr>
          <a:xfrm>
            <a:off x="442913" y="2911525"/>
            <a:ext cx="8258175" cy="732932"/>
          </a:xfrm>
          <a:prstGeom prst="rect">
            <a:avLst/>
          </a:prstGeom>
          <a:solidFill>
            <a:srgbClr val="111111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57213" y="2982962"/>
            <a:ext cx="28575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985838" y="3111550"/>
            <a:ext cx="76009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REPRODUCTION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985838" y="3375868"/>
            <a:ext cx="76009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attacker reproduces the PRNG sequence to predict future valid session tokens with high accuracy.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442913" y="3715894"/>
            <a:ext cx="8258175" cy="775795"/>
          </a:xfrm>
          <a:prstGeom prst="rect">
            <a:avLst/>
          </a:prstGeom>
          <a:solidFill>
            <a:srgbClr val="1A0005"/>
          </a:solidFill>
          <a:ln w="18288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57213" y="3930207"/>
            <a:ext cx="80295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00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FINAL RESULT: SESSION HIJACKING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557213" y="4223100"/>
            <a:ext cx="802957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Unauthorized access is achieved by using the predicted token to impersonate a legitimate user, bypassing authentication.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144" y="-7144"/>
            <a:ext cx="915828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644" y="625497"/>
            <a:ext cx="5227439" cy="2911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POC RESULTS: SUCCESSFUL TOKEN PREDICTION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75334" y="1831423"/>
            <a:ext cx="3312412" cy="1810941"/>
          </a:xfrm>
          <a:prstGeom prst="rect">
            <a:avLst/>
          </a:prstGeom>
          <a:solidFill>
            <a:srgbClr val="111111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9634" y="2045736"/>
            <a:ext cx="308381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ATTACK VALIDATION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589634" y="2320770"/>
            <a:ext cx="116978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Controlled Environment: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1759423" y="2320770"/>
            <a:ext cx="179486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 in a mobile emulator using a test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589634" y="2470789"/>
            <a:ext cx="42683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account.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589634" y="2774398"/>
            <a:ext cx="10144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Time-Based Seeding: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1604047" y="2774398"/>
            <a:ext cx="81974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Recovered seed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2423792" y="2767254"/>
            <a:ext cx="7801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1735689600123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3203912" y="2774398"/>
            <a:ext cx="4196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 a Unix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589634" y="2924417"/>
            <a:ext cx="127515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timestamp in milliseconds.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589634" y="3224454"/>
            <a:ext cx="101262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Prediction Accuracy: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1602261" y="3224454"/>
            <a:ext cx="167520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100% match achieved by iterating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589634" y="3224454"/>
            <a:ext cx="307895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through a narrow time window.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1062221" y="3822884"/>
            <a:ext cx="1910953" cy="398264"/>
          </a:xfrm>
          <a:prstGeom prst="rect">
            <a:avLst/>
          </a:prstGeom>
          <a:solidFill>
            <a:srgbClr val="00FF41">
              <a:alpha val="10000"/>
            </a:srgbClr>
          </a:solidFill>
          <a:ln w="18288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133658" y="3965759"/>
            <a:ext cx="173950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STATUS: ATTACK SUCCESSFUL [TRUE]</a:t>
            </a:r>
            <a:endParaRPr lang="en-US" sz="683" dirty="0"/>
          </a:p>
        </p:txBody>
      </p:sp>
      <p:sp>
        <p:nvSpPr>
          <p:cNvPr id="19" name="Shape 16"/>
          <p:cNvSpPr/>
          <p:nvPr/>
        </p:nvSpPr>
        <p:spPr>
          <a:xfrm>
            <a:off x="4093278" y="1831423"/>
            <a:ext cx="4574288" cy="971550"/>
          </a:xfrm>
          <a:prstGeom prst="rect">
            <a:avLst/>
          </a:prstGeom>
          <a:solidFill>
            <a:srgbClr val="000000"/>
          </a:solidFill>
          <a:ln w="18288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093278" y="1831423"/>
            <a:ext cx="4574288" cy="971550"/>
          </a:xfrm>
          <a:prstGeom prst="rect">
            <a:avLst/>
          </a:prstGeom>
          <a:noFill/>
          <a:ln/>
        </p:spPr>
        <p:txBody>
          <a:bodyPr wrap="square" lIns="136017" tIns="102108" rIns="136017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Running SessionTokenPOC...
&gt; Simulated token: blMdycOkq5ZDCHdO
&gt; Recovered seed: 1735689600123
&gt; Predicted token: blMdycOkq5ZDCHdO
&gt; Match confirmed.</a:t>
            </a:r>
            <a:endParaRPr lang="en-US" sz="780" dirty="0"/>
          </a:p>
        </p:txBody>
      </p:sp>
      <p:sp>
        <p:nvSpPr>
          <p:cNvPr id="21" name="Text 18"/>
          <p:cNvSpPr/>
          <p:nvPr/>
        </p:nvSpPr>
        <p:spPr>
          <a:xfrm>
            <a:off x="4093278" y="2874411"/>
            <a:ext cx="4574288" cy="38576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Real-World Scenario:</a:t>
            </a: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An attacker simply brute-forces the time window around the observed login to recover the seed automatically.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442913"/>
            <a:ext cx="5514975" cy="2911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CRITICAL MITIGATION: ADOPTING SECURERANDOM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42913" y="1911175"/>
            <a:ext cx="4043363" cy="1747261"/>
          </a:xfrm>
          <a:prstGeom prst="rect">
            <a:avLst/>
          </a:prstGeom>
          <a:solidFill>
            <a:srgbClr val="0A1A0A"/>
          </a:solidFill>
          <a:ln w="18288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5788" y="2054050"/>
            <a:ext cx="374332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CORE FIX: CSPRNG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85788" y="2307653"/>
            <a:ext cx="141982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Replace java.util.Random: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2005608" y="2325512"/>
            <a:ext cx="71973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Transition to</a:t>
            </a:r>
            <a:endParaRPr lang="en-US" sz="834" dirty="0"/>
          </a:p>
        </p:txBody>
      </p:sp>
      <p:sp>
        <p:nvSpPr>
          <p:cNvPr id="8" name="Shape 5"/>
          <p:cNvSpPr/>
          <p:nvPr/>
        </p:nvSpPr>
        <p:spPr>
          <a:xfrm>
            <a:off x="585788" y="2488730"/>
            <a:ext cx="1840241" cy="183952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5788" y="2488730"/>
            <a:ext cx="1840241" cy="183952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FF4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java.security.SecureRandom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2426029" y="2511947"/>
            <a:ext cx="169664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 all authentication material.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85788" y="2751961"/>
            <a:ext cx="75188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it Works: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1366242" y="2746603"/>
            <a:ext cx="880132" cy="183952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366242" y="2746603"/>
            <a:ext cx="880132" cy="183952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FF4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SecureRandom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2246375" y="2769820"/>
            <a:ext cx="181451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draws entropy from the OS (e.g.,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585788" y="2933038"/>
            <a:ext cx="880132" cy="183952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85788" y="2933038"/>
            <a:ext cx="880132" cy="183952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FF4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/dev/urandom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1465920" y="2956255"/>
            <a:ext cx="13108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) and resists prediction.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585788" y="3192696"/>
            <a:ext cx="383977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Result: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969764" y="3210556"/>
            <a:ext cx="299501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Tokens become cryptographically strong and resilient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585788" y="3393419"/>
            <a:ext cx="171271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against seed-recovery attacks.</a:t>
            </a:r>
            <a:endParaRPr lang="en-US" sz="834" dirty="0"/>
          </a:p>
        </p:txBody>
      </p:sp>
      <p:sp>
        <p:nvSpPr>
          <p:cNvPr id="21" name="Shape 18"/>
          <p:cNvSpPr/>
          <p:nvPr/>
        </p:nvSpPr>
        <p:spPr>
          <a:xfrm>
            <a:off x="4643438" y="1911175"/>
            <a:ext cx="4057650" cy="1740117"/>
          </a:xfrm>
          <a:prstGeom prst="rect">
            <a:avLst/>
          </a:prstGeom>
          <a:solidFill>
            <a:srgbClr val="111111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00600" y="2054050"/>
            <a:ext cx="375761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DEFENSE IN DEPTH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4800600" y="2311225"/>
            <a:ext cx="107334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Encrypted Storage: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5873948" y="2329084"/>
            <a:ext cx="63579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</a:t>
            </a:r>
            <a:endParaRPr lang="en-US" sz="834" dirty="0"/>
          </a:p>
        </p:txBody>
      </p:sp>
      <p:sp>
        <p:nvSpPr>
          <p:cNvPr id="25" name="Shape 22"/>
          <p:cNvSpPr/>
          <p:nvPr/>
        </p:nvSpPr>
        <p:spPr>
          <a:xfrm>
            <a:off x="6509742" y="2305867"/>
            <a:ext cx="1840241" cy="183952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509742" y="2305867"/>
            <a:ext cx="1840241" cy="183952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00FF4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EncryptedSharedPreferences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8349983" y="2329084"/>
            <a:ext cx="14823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4800600" y="2511947"/>
            <a:ext cx="168949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protect session tokens at rest.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4800600" y="2748389"/>
            <a:ext cx="99119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Management: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5791795" y="2766248"/>
            <a:ext cx="260568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Utilize the Android Keystore system to manage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4800600" y="2949111"/>
            <a:ext cx="161091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cryptographic keys securely.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4800600" y="3185553"/>
            <a:ext cx="532209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Outcome:</a:t>
            </a:r>
            <a:endParaRPr lang="en-US" sz="784" dirty="0"/>
          </a:p>
        </p:txBody>
      </p:sp>
      <p:sp>
        <p:nvSpPr>
          <p:cNvPr id="33" name="Text 30"/>
          <p:cNvSpPr/>
          <p:nvPr/>
        </p:nvSpPr>
        <p:spPr>
          <a:xfrm>
            <a:off x="5332809" y="3203412"/>
            <a:ext cx="310574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Ensures that even if local storage is extracted, sensitive</a:t>
            </a:r>
            <a:endParaRPr lang="en-US" sz="834" dirty="0"/>
          </a:p>
        </p:txBody>
      </p:sp>
      <p:sp>
        <p:nvSpPr>
          <p:cNvPr id="34" name="Text 31"/>
          <p:cNvSpPr/>
          <p:nvPr/>
        </p:nvSpPr>
        <p:spPr>
          <a:xfrm>
            <a:off x="4800600" y="3386275"/>
            <a:ext cx="218241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tokens remain encrypted and unusable.</a:t>
            </a: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632640"/>
            <a:ext cx="5422106" cy="2911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 OF SCOPE: PLAINTEXT CREDENTIAL STORAGE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85788" y="1742126"/>
            <a:ext cx="4071938" cy="2335923"/>
          </a:xfrm>
          <a:prstGeom prst="rect">
            <a:avLst/>
          </a:prstGeom>
          <a:solidFill>
            <a:srgbClr val="111111"/>
          </a:solidFill>
          <a:ln w="18288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00100" y="2027876"/>
            <a:ext cx="362902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00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CRITICAL OBSERVATION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800100" y="2345773"/>
            <a:ext cx="23217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1032272" y="2322556"/>
            <a:ext cx="880132" cy="169664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32272" y="2322556"/>
            <a:ext cx="880132" cy="169664"/>
          </a:xfrm>
          <a:prstGeom prst="rect">
            <a:avLst/>
          </a:prstGeom>
          <a:noFill/>
          <a:ln/>
        </p:spPr>
        <p:txBody>
          <a:bodyPr wrap="none" lIns="34036" tIns="17018" rIns="34036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00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MainActivity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1912404" y="2345773"/>
            <a:ext cx="209311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writes raw usernames and passwords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800100" y="2532208"/>
            <a:ext cx="60364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directly to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1403747" y="2508991"/>
            <a:ext cx="1085850" cy="169664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403747" y="2508991"/>
            <a:ext cx="1085850" cy="169664"/>
          </a:xfrm>
          <a:prstGeom prst="rect">
            <a:avLst/>
          </a:prstGeom>
          <a:noFill/>
          <a:ln/>
        </p:spPr>
        <p:txBody>
          <a:bodyPr wrap="none" lIns="34036" tIns="17018" rIns="34036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00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credentials.txt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2489597" y="2532208"/>
            <a:ext cx="35897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using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2848570" y="2508991"/>
            <a:ext cx="1017287" cy="169664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848570" y="2508991"/>
            <a:ext cx="1017287" cy="169664"/>
          </a:xfrm>
          <a:prstGeom prst="rect">
            <a:avLst/>
          </a:prstGeom>
          <a:noFill/>
          <a:ln/>
        </p:spPr>
        <p:txBody>
          <a:bodyPr wrap="none" lIns="34036" tIns="17018" rIns="34036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00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openFileOutput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3865857" y="2532208"/>
            <a:ext cx="3214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800100" y="2715071"/>
            <a:ext cx="97690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This represents a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1777008" y="2715071"/>
            <a:ext cx="39469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Critical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2171700" y="2715071"/>
            <a:ext cx="213776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issue and a direct violation of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800100" y="2897935"/>
            <a:ext cx="236279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OWASP Password Storage Cheat Sheet.</a:t>
            </a:r>
            <a:endParaRPr lang="en-US" sz="834" dirty="0"/>
          </a:p>
        </p:txBody>
      </p:sp>
      <p:sp>
        <p:nvSpPr>
          <p:cNvPr id="21" name="Shape 18"/>
          <p:cNvSpPr/>
          <p:nvPr/>
        </p:nvSpPr>
        <p:spPr>
          <a:xfrm>
            <a:off x="4929188" y="1709309"/>
            <a:ext cx="3629025" cy="1033667"/>
          </a:xfrm>
          <a:prstGeom prst="rect">
            <a:avLst/>
          </a:prstGeom>
          <a:solidFill>
            <a:srgbClr val="111111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072063" y="1937909"/>
            <a:ext cx="33432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IMPACT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5072063" y="2234375"/>
            <a:ext cx="33432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Any local attacker with file access can recover raw credentials, enabling </a:t>
            </a: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account takeover</a:t>
            </a: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across services.</a:t>
            </a:r>
            <a:endParaRPr lang="en-US" sz="834" dirty="0"/>
          </a:p>
        </p:txBody>
      </p:sp>
      <p:sp>
        <p:nvSpPr>
          <p:cNvPr id="24" name="Shape 21"/>
          <p:cNvSpPr/>
          <p:nvPr/>
        </p:nvSpPr>
        <p:spPr>
          <a:xfrm>
            <a:off x="4929188" y="2832941"/>
            <a:ext cx="3629025" cy="1216531"/>
          </a:xfrm>
          <a:prstGeom prst="rect">
            <a:avLst/>
          </a:prstGeom>
          <a:solidFill>
            <a:srgbClr val="111111"/>
          </a:solidFill>
          <a:ln w="18288">
            <a:solidFill>
              <a:srgbClr val="455A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072063" y="3061541"/>
            <a:ext cx="33432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55A6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REASON FOR EXCLUSION</a:t>
            </a:r>
            <a:endParaRPr lang="en-US" sz="987" dirty="0"/>
          </a:p>
        </p:txBody>
      </p:sp>
      <p:sp>
        <p:nvSpPr>
          <p:cNvPr id="26" name="Text 23"/>
          <p:cNvSpPr/>
          <p:nvPr/>
        </p:nvSpPr>
        <p:spPr>
          <a:xfrm>
            <a:off x="5072063" y="3358006"/>
            <a:ext cx="334327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While severe, this finding is secondary to the </a:t>
            </a: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randomness vulnerability</a:t>
            </a: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which is the primary focus of this cryptographic audit.</a:t>
            </a:r>
            <a:endParaRPr lang="en-US" sz="8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632640"/>
            <a:ext cx="4707731" cy="2911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DEPENDENCY REVIEW &amp; LIBRARY ANALYSIS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42913" y="1802178"/>
            <a:ext cx="3396435" cy="1621631"/>
          </a:xfrm>
          <a:prstGeom prst="rect">
            <a:avLst/>
          </a:prstGeom>
          <a:solidFill>
            <a:srgbClr val="111111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28638" y="2016490"/>
            <a:ext cx="322498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AUDITED ARTIFACTS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528638" y="2252234"/>
            <a:ext cx="1779743" cy="225028"/>
          </a:xfrm>
          <a:prstGeom prst="rect">
            <a:avLst/>
          </a:prstGeom>
          <a:noFill/>
          <a:ln/>
        </p:spPr>
        <p:txBody>
          <a:bodyPr wrap="square" lIns="8509" tIns="51054" rIns="8509" bIns="51054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androidx.core:core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2308380" y="2252234"/>
            <a:ext cx="1445242" cy="225028"/>
          </a:xfrm>
          <a:prstGeom prst="rect">
            <a:avLst/>
          </a:prstGeom>
          <a:noFill/>
          <a:ln/>
        </p:spPr>
        <p:txBody>
          <a:bodyPr wrap="square" lIns="8509" tIns="51054" rIns="8509" bIns="51054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1.9.0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528638" y="2477262"/>
            <a:ext cx="1779743" cy="228600"/>
          </a:xfrm>
          <a:prstGeom prst="rect">
            <a:avLst/>
          </a:prstGeom>
          <a:noFill/>
          <a:ln/>
        </p:spPr>
        <p:txBody>
          <a:bodyPr wrap="square" lIns="8509" tIns="51054" rIns="8509" bIns="51054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appcompat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2308380" y="2477262"/>
            <a:ext cx="1445242" cy="228600"/>
          </a:xfrm>
          <a:prstGeom prst="rect">
            <a:avLst/>
          </a:prstGeom>
          <a:noFill/>
          <a:ln/>
        </p:spPr>
        <p:txBody>
          <a:bodyPr wrap="square" lIns="8509" tIns="51054" rIns="8509" bIns="51054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1.6.1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528638" y="2705862"/>
            <a:ext cx="1779743" cy="228600"/>
          </a:xfrm>
          <a:prstGeom prst="rect">
            <a:avLst/>
          </a:prstGeom>
          <a:noFill/>
          <a:ln/>
        </p:spPr>
        <p:txBody>
          <a:bodyPr wrap="square" lIns="8509" tIns="51054" rIns="8509" bIns="51054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material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2308380" y="2705862"/>
            <a:ext cx="1445242" cy="228600"/>
          </a:xfrm>
          <a:prstGeom prst="rect">
            <a:avLst/>
          </a:prstGeom>
          <a:noFill/>
          <a:ln/>
        </p:spPr>
        <p:txBody>
          <a:bodyPr wrap="square" lIns="8509" tIns="51054" rIns="8509" bIns="51054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1.11.0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528638" y="2934462"/>
            <a:ext cx="1779743" cy="228600"/>
          </a:xfrm>
          <a:prstGeom prst="rect">
            <a:avLst/>
          </a:prstGeom>
          <a:noFill/>
          <a:ln/>
        </p:spPr>
        <p:txBody>
          <a:bodyPr wrap="square" lIns="8509" tIns="51054" rIns="8509" bIns="51054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androidx.fragment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2315524" y="2980897"/>
            <a:ext cx="3600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1.3.6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2675586" y="2996970"/>
            <a:ext cx="5143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00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[OUTDATED]</a:t>
            </a:r>
            <a:endParaRPr lang="en-US" sz="584" dirty="0"/>
          </a:p>
        </p:txBody>
      </p:sp>
      <p:sp>
        <p:nvSpPr>
          <p:cNvPr id="15" name="Text 12"/>
          <p:cNvSpPr/>
          <p:nvPr/>
        </p:nvSpPr>
        <p:spPr>
          <a:xfrm>
            <a:off x="528638" y="3163062"/>
            <a:ext cx="1779743" cy="228600"/>
          </a:xfrm>
          <a:prstGeom prst="rect">
            <a:avLst/>
          </a:prstGeom>
          <a:noFill/>
          <a:ln/>
        </p:spPr>
        <p:txBody>
          <a:bodyPr wrap="square" lIns="8509" tIns="51054" rIns="8509" bIns="51054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kotlinx-coroutines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2315524" y="3209497"/>
            <a:ext cx="3600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1.6.4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2675586" y="3225570"/>
            <a:ext cx="5143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00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[OUTDATED]</a:t>
            </a:r>
            <a:endParaRPr lang="en-US" sz="584" dirty="0"/>
          </a:p>
        </p:txBody>
      </p:sp>
      <p:sp>
        <p:nvSpPr>
          <p:cNvPr id="18" name="Shape 15"/>
          <p:cNvSpPr/>
          <p:nvPr/>
        </p:nvSpPr>
        <p:spPr>
          <a:xfrm>
            <a:off x="4010797" y="1802178"/>
            <a:ext cx="4690290" cy="1341239"/>
          </a:xfrm>
          <a:prstGeom prst="rect">
            <a:avLst/>
          </a:prstGeom>
          <a:solidFill>
            <a:srgbClr val="111111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096522" y="2016490"/>
            <a:ext cx="451884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HYGIENE AUDIT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4096522" y="2273665"/>
            <a:ext cx="74830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Update Policy:</a:t>
            </a:r>
            <a:endParaRPr lang="en-US" sz="734" dirty="0"/>
          </a:p>
        </p:txBody>
      </p:sp>
      <p:sp>
        <p:nvSpPr>
          <p:cNvPr id="21" name="Text 18"/>
          <p:cNvSpPr/>
          <p:nvPr/>
        </p:nvSpPr>
        <p:spPr>
          <a:xfrm>
            <a:off x="4844830" y="2273665"/>
            <a:ext cx="68758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Versions like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532416" y="2264736"/>
            <a:ext cx="90011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fragment 1.3.6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6432528" y="2273665"/>
            <a:ext cx="2500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6682560" y="2264736"/>
            <a:ext cx="10287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coroutines 1.6.4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7711260" y="2273665"/>
            <a:ext cx="80903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are not current</a:t>
            </a:r>
            <a:endParaRPr lang="en-US" sz="780" dirty="0"/>
          </a:p>
        </p:txBody>
      </p:sp>
      <p:sp>
        <p:nvSpPr>
          <p:cNvPr id="26" name="Text 23"/>
          <p:cNvSpPr/>
          <p:nvPr/>
        </p:nvSpPr>
        <p:spPr>
          <a:xfrm>
            <a:off x="4096522" y="2445115"/>
            <a:ext cx="81081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stable releases.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4096522" y="2616565"/>
            <a:ext cx="72330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Best Practice:</a:t>
            </a:r>
            <a:endParaRPr lang="en-US" sz="734" dirty="0"/>
          </a:p>
        </p:txBody>
      </p:sp>
      <p:sp>
        <p:nvSpPr>
          <p:cNvPr id="28" name="Text 25"/>
          <p:cNvSpPr/>
          <p:nvPr/>
        </p:nvSpPr>
        <p:spPr>
          <a:xfrm>
            <a:off x="4819827" y="2616565"/>
            <a:ext cx="359152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Keeping dependencies updated is critical security hygiene to ensure</a:t>
            </a:r>
            <a:endParaRPr lang="en-US" sz="780" dirty="0"/>
          </a:p>
        </p:txBody>
      </p:sp>
      <p:sp>
        <p:nvSpPr>
          <p:cNvPr id="29" name="Text 26"/>
          <p:cNvSpPr/>
          <p:nvPr/>
        </p:nvSpPr>
        <p:spPr>
          <a:xfrm>
            <a:off x="4096522" y="2788015"/>
            <a:ext cx="226099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vulnerabilities are patched promptly.</a:t>
            </a:r>
            <a:endParaRPr lang="en-US" sz="780" dirty="0"/>
          </a:p>
        </p:txBody>
      </p:sp>
      <p:sp>
        <p:nvSpPr>
          <p:cNvPr id="30" name="Text 27"/>
          <p:cNvSpPr/>
          <p:nvPr/>
        </p:nvSpPr>
        <p:spPr>
          <a:xfrm>
            <a:off x="4096522" y="2980897"/>
            <a:ext cx="171985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STATUS: NO PUBLISHED ADVISORIES FOUND</a:t>
            </a:r>
            <a:endParaRPr lang="en-US" sz="584" dirty="0"/>
          </a:p>
        </p:txBody>
      </p:sp>
      <p:sp>
        <p:nvSpPr>
          <p:cNvPr id="31" name="Shape 28"/>
          <p:cNvSpPr/>
          <p:nvPr/>
        </p:nvSpPr>
        <p:spPr>
          <a:xfrm>
            <a:off x="2226867" y="3866978"/>
            <a:ext cx="4690290" cy="457200"/>
          </a:xfrm>
          <a:prstGeom prst="rect">
            <a:avLst/>
          </a:prstGeom>
          <a:solidFill>
            <a:srgbClr val="111111"/>
          </a:solidFill>
          <a:ln w="18288">
            <a:solidFill>
              <a:srgbClr val="455A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2312592" y="3952703"/>
            <a:ext cx="45188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Note:</a:t>
            </a: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While no advisories were found, prompt updates mitigate the risk of zero-day exploits or unlisted bugs.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632640"/>
            <a:ext cx="4582716" cy="2911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FINAL CONCLUSION &amp; SECURITY POSTURE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85788" y="1684976"/>
            <a:ext cx="4071938" cy="2407360"/>
          </a:xfrm>
          <a:prstGeom prst="rect">
            <a:avLst/>
          </a:prstGeom>
          <a:solidFill>
            <a:srgbClr val="111111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00100" y="1970726"/>
            <a:ext cx="362902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AUDIT SUMMARY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800100" y="2267192"/>
            <a:ext cx="3629025" cy="128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use of </a:t>
            </a:r>
            <a:r>
              <a:rPr lang="en-US" sz="784" b="1" dirty="0">
                <a:solidFill>
                  <a:srgbClr val="FF00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java.util.Random</a:t>
            </a: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for session token generation introduces a critical vulnerability, enabling deterministic token prediction and session hijacking. 
 While plaintext storage was also identified, the </a:t>
            </a:r>
            <a:r>
              <a:rPr lang="en-US" sz="784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cryptographic misuse</a:t>
            </a: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of PRNGs represents a fundamental failure in the application's authentication design.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4929188" y="1457158"/>
            <a:ext cx="3629025" cy="1237962"/>
          </a:xfrm>
          <a:prstGeom prst="rect">
            <a:avLst/>
          </a:prstGeom>
          <a:solidFill>
            <a:srgbClr val="0A1A0A"/>
          </a:solidFill>
          <a:ln w="18288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72063" y="1707189"/>
            <a:ext cx="33432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RECOMMENDATIONS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5072063" y="2003655"/>
            <a:ext cx="334327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Implement </a:t>
            </a:r>
            <a:r>
              <a:rPr lang="en-US" sz="784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SecureRandom</a:t>
            </a: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for all tokens.
2. Use </a:t>
            </a:r>
            <a:r>
              <a:rPr lang="en-US" sz="784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EncryptedSharedPreferences</a:t>
            </a: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for storage.
3. Adopt </a:t>
            </a:r>
            <a:r>
              <a:rPr lang="en-US" sz="784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OWASP MASVS</a:t>
            </a: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for future audits.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4929188" y="3180784"/>
            <a:ext cx="3629025" cy="1055098"/>
          </a:xfrm>
          <a:prstGeom prst="rect">
            <a:avLst/>
          </a:prstGeom>
          <a:solidFill>
            <a:srgbClr val="111111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72063" y="3430816"/>
            <a:ext cx="33432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FINAL VERDICT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5072063" y="3727281"/>
            <a:ext cx="33432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application requires a </a:t>
            </a:r>
            <a:r>
              <a:rPr lang="en-US" sz="784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security-first refactor</a:t>
            </a:r>
            <a:r>
              <a:rPr lang="en-US" sz="834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to protect user assets and ensure robust authentication integrity.</a:t>
            </a:r>
            <a:endParaRPr lang="en-US" sz="83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8" y="442913"/>
            <a:ext cx="5840016" cy="2911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TECHNICAL DEEP DIVE: RANDOM VS. SECURERANDOM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14338" y="1547309"/>
            <a:ext cx="4494870" cy="1641277"/>
          </a:xfrm>
          <a:prstGeom prst="rect">
            <a:avLst/>
          </a:prstGeom>
          <a:solidFill>
            <a:srgbClr val="111111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00063" y="1633034"/>
            <a:ext cx="432342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PRIMITIVE COMPARISON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500063" y="1854490"/>
            <a:ext cx="689874" cy="219670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FEATURE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1189937" y="1854490"/>
            <a:ext cx="1628189" cy="219670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JAVA.UTIL.RANDOM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2818126" y="1854490"/>
            <a:ext cx="2005357" cy="219670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JAVA.SECURITY.SECURERANDOM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500063" y="2074161"/>
            <a:ext cx="689874" cy="251817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Algorithm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1189937" y="2074161"/>
            <a:ext cx="1628189" cy="251817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LCG (Linear Congruential)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2818126" y="2074161"/>
            <a:ext cx="2005357" cy="251817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CSPRNG (DRBG)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500063" y="2325978"/>
            <a:ext cx="689874" cy="248245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Entropy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1189937" y="2325978"/>
            <a:ext cx="1628189" cy="248245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Time (48-bit)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2818126" y="2325978"/>
            <a:ext cx="2005357" cy="248245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 Entropy (256-bit+)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500063" y="2574223"/>
            <a:ext cx="689874" cy="248245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Period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1189937" y="2574223"/>
            <a:ext cx="1628189" cy="248245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Short (2^48)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2818126" y="2574223"/>
            <a:ext cx="2005357" cy="248245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Cryptographically Long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500063" y="2822468"/>
            <a:ext cx="689874" cy="248245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1189937" y="2822468"/>
            <a:ext cx="1628189" cy="248245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Predictable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2818126" y="2822468"/>
            <a:ext cx="2005357" cy="248245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Unpredictable</a:t>
            </a:r>
            <a:endParaRPr lang="en-US" sz="683" dirty="0"/>
          </a:p>
        </p:txBody>
      </p:sp>
      <p:sp>
        <p:nvSpPr>
          <p:cNvPr id="21" name="Shape 18"/>
          <p:cNvSpPr/>
          <p:nvPr/>
        </p:nvSpPr>
        <p:spPr>
          <a:xfrm>
            <a:off x="5052082" y="3251921"/>
            <a:ext cx="3677580" cy="1046560"/>
          </a:xfrm>
          <a:prstGeom prst="rect">
            <a:avLst/>
          </a:prstGeom>
          <a:solidFill>
            <a:srgbClr val="111111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137807" y="3337646"/>
            <a:ext cx="350613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JAVA.UTIL.RANDOM FAILS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5137807" y="3571604"/>
            <a:ext cx="21788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5355692" y="3562674"/>
            <a:ext cx="10287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java.util.Random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6384392" y="3571604"/>
            <a:ext cx="199667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 uses a 48-bit seed updated by a</a:t>
            </a:r>
            <a:endParaRPr lang="en-US" sz="780" dirty="0"/>
          </a:p>
        </p:txBody>
      </p:sp>
      <p:sp>
        <p:nvSpPr>
          <p:cNvPr id="26" name="Text 23"/>
          <p:cNvSpPr/>
          <p:nvPr/>
        </p:nvSpPr>
        <p:spPr>
          <a:xfrm>
            <a:off x="5137807" y="3726980"/>
            <a:ext cx="187523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FF00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Linear Congruential Generator (LCG)</a:t>
            </a:r>
            <a:endParaRPr lang="en-US" sz="734" dirty="0"/>
          </a:p>
        </p:txBody>
      </p:sp>
      <p:sp>
        <p:nvSpPr>
          <p:cNvPr id="27" name="Text 24"/>
          <p:cNvSpPr/>
          <p:nvPr/>
        </p:nvSpPr>
        <p:spPr>
          <a:xfrm>
            <a:off x="7013042" y="3726980"/>
            <a:ext cx="145732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 This is optimized for speed,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5137807" y="3882357"/>
            <a:ext cx="261461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 security. Given a few outputs, an attacker can</a:t>
            </a:r>
            <a:endParaRPr lang="en-US" sz="780" dirty="0"/>
          </a:p>
        </p:txBody>
      </p:sp>
      <p:sp>
        <p:nvSpPr>
          <p:cNvPr id="29" name="Text 26"/>
          <p:cNvSpPr/>
          <p:nvPr/>
        </p:nvSpPr>
        <p:spPr>
          <a:xfrm>
            <a:off x="7752420" y="3882357"/>
            <a:ext cx="8215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recover internal</a:t>
            </a:r>
            <a:endParaRPr lang="en-US" sz="734" dirty="0"/>
          </a:p>
        </p:txBody>
      </p:sp>
      <p:sp>
        <p:nvSpPr>
          <p:cNvPr id="30" name="Text 27"/>
          <p:cNvSpPr/>
          <p:nvPr/>
        </p:nvSpPr>
        <p:spPr>
          <a:xfrm>
            <a:off x="5137807" y="4037733"/>
            <a:ext cx="26967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state</a:t>
            </a:r>
            <a:endParaRPr lang="en-US" sz="734" dirty="0"/>
          </a:p>
        </p:txBody>
      </p:sp>
      <p:sp>
        <p:nvSpPr>
          <p:cNvPr id="31" name="Text 28"/>
          <p:cNvSpPr/>
          <p:nvPr/>
        </p:nvSpPr>
        <p:spPr>
          <a:xfrm>
            <a:off x="5407484" y="4037733"/>
            <a:ext cx="136981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predict future values.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1279</Words>
  <Application>Microsoft Office PowerPoint</Application>
  <PresentationFormat>On-screen Show (16:9)</PresentationFormat>
  <Paragraphs>247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Courier New</vt:lpstr>
      <vt:lpstr>monospace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Reyon Noronha</cp:lastModifiedBy>
  <cp:revision>2</cp:revision>
  <dcterms:created xsi:type="dcterms:W3CDTF">2026-03-27T10:02:57Z</dcterms:created>
  <dcterms:modified xsi:type="dcterms:W3CDTF">2026-03-27T10:05:53Z</dcterms:modified>
</cp:coreProperties>
</file>